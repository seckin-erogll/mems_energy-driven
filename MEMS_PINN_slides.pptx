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37744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Energy-Driven Physics-Informed Neural Network
for Multilayer MEMS Diaphragm Pressure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Föppl–von Kármán Variational Formulation  |  Classical Laminated Plate Theory  |  Hard Boundary Conditions  |  Contact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CB0"/>
                </a:solidFill>
              </a:rPr>
              <a:t>Parylene-C / Gold / Parylene-C  ·  Circular Clamped Diaphragm  ·  Capacitive 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  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Device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Clamped circular diaphragm: parylene-C / Au / parylene-C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Radius a = 150–500 µm,  air gap ag = 5–15 µm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Uniform pressure P = 10 Pa – 20 kPa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Goal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Predict full deflection profile w(r) for any geometry &amp; pressure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Without re-running COMSOL for each new design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Challenge: large deflections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w/h can reach 5–10×  →  linear plate theory fails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Membrane stiffening must be captured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Contact with electrode at w = −ag  must be enforced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Why not just FEA?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COMSOL: minutes–hours per geometry point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Design optimisation needs 10³–10⁴ evaluations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Surrogate model gives &lt;1 ms inference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Why not Kirchhoff (Atik analytical)?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w(r) = −Pa⁴/(64D*) · (1−ξ²)²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Valid only for w &lt;&lt; thickness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Ignores membrane stiffening  →  overestimates deflection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No contact enforcement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Approach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PINN trained by minimising the physical energy functional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No labelled data required during main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  Governing Physics: Föppl–von Kármán (FvK)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7772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Kirchhoff (linear) plate theory — valid only for w &lt;&lt; h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Bending stiffness D* resists deflection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Equilibrium: D∇⁴w + P = 0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FvK extension — large deflections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Plate also stretches in-plane as it bends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In-plane tension (membrane stiffening) increases effective stiffness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Two coupled unknowns: w(r) transverse,  u(r) radial in-plane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Nonlinear membrane strains  (the key physics)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εᵣ = u'(r) + ½(w'(r))²      ← ½(w')² is the geometric nonlinearity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εθ = u(r) / r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555555"/>
                </a:solidFill>
              </a:rPr>
              <a:t>     –  Dropping u or the ½(w')² term loses all membrane stiffening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01010"/>
                </a:solidFill>
              </a:rPr>
              <a:t>▸  No closed-form solution for general multilayer geometry  →  need a surrogate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188720"/>
            <a:ext cx="361188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261872"/>
            <a:ext cx="339242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5E"/>
                </a:solidFill>
              </a:rPr>
              <a:t>Bending energy density:</a:t>
            </a:r>
          </a:p>
          <a:p>
            <a:r>
              <a:rPr sz="1300">
                <a:solidFill>
                  <a:srgbClr val="1A1A5E"/>
                </a:solidFill>
              </a:rPr>
              <a:t>  ½ D* (w'' + w'/r)²</a:t>
            </a:r>
          </a:p>
          <a:p>
            <a:r>
              <a:rPr sz="1300">
                <a:solidFill>
                  <a:srgbClr val="1A1A5E"/>
                </a:solidFill>
              </a:rPr>
              <a:t/>
            </a:r>
          </a:p>
          <a:p>
            <a:r>
              <a:rPr sz="1300">
                <a:solidFill>
                  <a:srgbClr val="1A1A5E"/>
                </a:solidFill>
              </a:rPr>
              <a:t>Membrane energy density:</a:t>
            </a:r>
          </a:p>
          <a:p>
            <a:r>
              <a:rPr sz="1300">
                <a:solidFill>
                  <a:srgbClr val="1A1A5E"/>
                </a:solidFill>
              </a:rPr>
              <a:t>  ½ [A₁₁εᵣ² + 2A₁₂εᵣεθ + A₁₁εθ²]</a:t>
            </a:r>
          </a:p>
          <a:p>
            <a:r>
              <a:rPr sz="1300">
                <a:solidFill>
                  <a:srgbClr val="1A1A5E"/>
                </a:solidFill>
              </a:rPr>
              <a:t/>
            </a:r>
          </a:p>
          <a:p>
            <a:r>
              <a:rPr sz="1300">
                <a:solidFill>
                  <a:srgbClr val="1A1A5E"/>
                </a:solidFill>
              </a:rPr>
              <a:t>Pressure work density:</a:t>
            </a:r>
          </a:p>
          <a:p>
            <a:r>
              <a:rPr sz="1300">
                <a:solidFill>
                  <a:srgbClr val="1A1A5E"/>
                </a:solidFill>
              </a:rPr>
              <a:t>  P · w    (w &lt; 0  →  decreases 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114800"/>
            <a:ext cx="3611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D*, A₁₁, A₁₂ from Classical
Laminated Plate Theory
(computed analytically)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  Material Model: Classical Laminated Plate Theory (CLT)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3-layer stack: parylene-C / gold / parylene-C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Parylene-C:  E = 3.2 GPa,  ν = 0.33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Gold:        E = 70  GPa,  ν = 0.44  (22× stiffer)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Neutral axis z_NA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z_NA = Σ Ēₖ tₖ z_{c,k}  /  Σ Ēₖ tₖ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Gold is stiff and not at geometric midplane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Pulls z_NA upward  →  asymmetric bending stiffness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Effective bending stiffness D*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D* = (1/3) Σ Ēₖ (bₖ³ − bₖ₋₁³)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bₖ = signed distance from z_NA to layer top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Cubic: thin gold far from NA contributes like I-beam flange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Membrane stiffness A₁₁, A₁₂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A₁₁ = Σ Ēₖ tₖ   (axial)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A₁₂ = Σ νₖ Ēₖ tₖ  (Poisson coupling)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compute CLT analytically, not learn it?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D*, A₁₁, A₁₂ are exact — no approximation needed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Embedding exact physics reduces what the network must learn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Generalises outside training range without extrapolation error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Nominal values  (t1=1, t2=0.2, t3=4 µm)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z_NA = 1.89 µm  (geometric midplane = 2.6 µm)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D* = 6.19 × 10⁻⁸ N·m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A₁₁ = 3.53 × 10⁴ N/m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ν_eff = A₁₂/A₁₁ = 0.384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Computed fresh for every training batch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Geometry (t1, t2, t3) is sampled stochastically each step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D*, A₁₁, A₁₂ evaluated analytically at batch geometry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  Training Signal: Variational Energy 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Total potential energy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Π[w, u] = ∫₀ᵃ 2πr [ ½D*(w''+w'/r)²  +  ½(A₁₁εᵣ² + 2A₁₂εᵣεθ + A₁₁εθ²)  +  Pw ] dr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energy, not PDE residual?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Energy is a single scalar  —  simpler gradient signal than pointwise PDE enforcement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At the minimum, δΠ/δw = 0 recovers D∇⁴w + P = 0  (FvK Euler–Lagrange)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Natural boundary conditions satisfied automatically at the minimum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No labelled data needed — physics alone constrains the solution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+Pw (not −Pw)?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 &lt; 0 for downward deflection  →  Pw &lt; 0  →  decreases Π as plate deflects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Energy minimisation drives the plate downward — physically correct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Wrong sign locks the network at w = 0 (deflection is energetically unfavourable)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Numerical integration: 32-node Gauss–Legendre quadrature on ξ ∈ (0, 1)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Differentiable weighted sum  →  backpropagation flows through the integral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ξ = 0 excluded  —  avoids 1/r singularity in εθ = u/r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Exponentially accurate for smooth (tanh) networks — 32 nodes is sufficient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Per-sample energy normalisation  (critical for multi-scale training)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Energy at P = 20 kPa  ~  10⁻⁸ J  vs  P = 50 Pa  ~  10⁻¹² J  →  4 orders of magnitude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Π_norm = Π_i / |Π_i|  →  every sample contributes ±1 to the gradient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Without this: P = 100 Pa error = 232%  |  with this: 2.2%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 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7863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Input: 7 normalised features  [ξ, P̂, t̂₁, t̂₂, t̂₃, â, âg]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ξ = r/a  (radial coordinate, already in [0,1] — network learns shapes, not sizes)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P̂ = log(1 + P/1000) / log(21)  —  log-scale: 10 Pa–20 kPa span 3 decades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t̂₁, t̂₂, t̂₃, â, âg  —  min-max to [0,1] within training geometry range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Trunk: 6 fully-connected layers, 128 neurons, Tanh activation throughout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Why Tanh?  Bending energy needs w''  (second autograd derivative through the network)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ReLU  →  w'' = 0 almost everywhere  →  no bending energy gradient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GELU  →  w'' noisy and oscillatory  →  unstable energy computation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Tanh  →  smooth, analytic, well-behaved second derivatives  →  stable training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Two independent output heads (Linear 128→1 each)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Head w  →  transverse deflection w(r)  [the observable]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Head u  →  radial in-plane displacement u(r)  [needed for εᵣ = u' + ½(w')²]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Without u: εᵣ = ½(w')² only  →  misses actual in-plane displacement  →  wrong stiffness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~100 k parameters total  |  float32  |  trained on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1143000"/>
            <a:ext cx="3520440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6488" y="1216152"/>
            <a:ext cx="3300984" cy="287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5E"/>
                </a:solidFill>
              </a:rPr>
              <a:t>Input  [7]</a:t>
            </a:r>
          </a:p>
          <a:p>
            <a:r>
              <a:rPr sz="1300">
                <a:solidFill>
                  <a:srgbClr val="1A1A5E"/>
                </a:solidFill>
              </a:rPr>
              <a:t>  ↓  Linear(7→128) + Tanh</a:t>
            </a:r>
          </a:p>
          <a:p>
            <a:r>
              <a:rPr sz="1300">
                <a:solidFill>
                  <a:srgbClr val="1A1A5E"/>
                </a:solidFill>
              </a:rPr>
              <a:t>  ↓  Linear(128→128) + Tanh  ×5</a:t>
            </a:r>
          </a:p>
          <a:p>
            <a:r>
              <a:rPr sz="1300">
                <a:solidFill>
                  <a:srgbClr val="1A1A5E"/>
                </a:solidFill>
              </a:rPr>
              <a:t>  ↓</a:t>
            </a:r>
          </a:p>
          <a:p>
            <a:r>
              <a:rPr sz="1300">
                <a:solidFill>
                  <a:srgbClr val="1A1A5E"/>
                </a:solidFill>
              </a:rPr>
              <a:t>  ┌──────────┬──────────┐</a:t>
            </a:r>
          </a:p>
          <a:p>
            <a:r>
              <a:rPr sz="1300">
                <a:solidFill>
                  <a:srgbClr val="1A1A5E"/>
                </a:solidFill>
              </a:rPr>
              <a:t>  head_w    head_u</a:t>
            </a:r>
          </a:p>
          <a:p>
            <a:r>
              <a:rPr sz="1300">
                <a:solidFill>
                  <a:srgbClr val="1A1A5E"/>
                </a:solidFill>
              </a:rPr>
              <a:t>  Lin(128→1) Lin(128→1)</a:t>
            </a:r>
          </a:p>
          <a:p>
            <a:r>
              <a:rPr sz="1300">
                <a:solidFill>
                  <a:srgbClr val="1A1A5E"/>
                </a:solidFill>
              </a:rPr>
              <a:t>  ↓            ↓</a:t>
            </a:r>
          </a:p>
          <a:p>
            <a:r>
              <a:rPr sz="1300">
                <a:solidFill>
                  <a:srgbClr val="1A1A5E"/>
                </a:solidFill>
              </a:rPr>
              <a:t>  hard BC    hard BC</a:t>
            </a:r>
          </a:p>
          <a:p>
            <a:r>
              <a:rPr sz="1300">
                <a:solidFill>
                  <a:srgbClr val="1A1A5E"/>
                </a:solidFill>
              </a:rPr>
              <a:t>  ↓            ↓</a:t>
            </a:r>
          </a:p>
          <a:p>
            <a:r>
              <a:rPr sz="1300">
                <a:solidFill>
                  <a:srgbClr val="1A1A5E"/>
                </a:solidFill>
              </a:rPr>
              <a:t> w(r) [m]   u(r) [m]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297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Xavier uniform init
Zero-init output heads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  Hard Boundary Conditions &amp; Contact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Clamped rim: algebraic enforcement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w_profile = (1 − ξ²)² · w_raw · W_ref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(1−ξ²)² is the exact Kirchhoff clamped-plate polynomial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Guarantees: w(ξ=1) = 0,  w'(ξ=1) = 0,  symmetry at ξ = 0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Whatever the network outputs, BCs are mathematically exact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In-plane BC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u = ξ(1−ξ) · u_raw · U_ref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Guarantees: u(0) = 0 (symmetry),  u(1) = 0 (clamped rim)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hard BCs instead of soft BC penalty?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Soft penalty: BCs can still be violated; extra hyperparameter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Hard BC: zero gradient budget wasted on BC enforcement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All network capacity goes toward learning interior physics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Physical output scaling: W_ref = ag_phys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Maximum deflection is −ag  →  w_raw lives in O(1)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Consistent across all geometries regardless of 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Contact constraint: w ≥ −ag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Smooth-max: w = ½(w_p + (−ag) + √((w_p−(−ag))² + ε²))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ε = 50 nm  →  transition width at contact line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not torch.clamp(w, min=−ag)?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clamp: gradient = 0 in contact zone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Network receives no learning signal where plate touches electrode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Smooth-max: gradient nonzero everywhere  →  learns contact physics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not κ-obstacle penalty?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Contact penalty ~10⁻¹² J  vs  pressure work ~10⁻⁸ J at 15 kPa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Ratio 1:10,000  →  constraint dominated by pressure term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Even at κ = 10¹⁰: still 1.9 µm penetration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Smooth-max result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Hard mathematical guarantee: w ≥ −ag to within 50 nm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0 / 200 penetration violations across random geometry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  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Geometry sampling  (each step)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64 geometries × 8 pressures = 512 samples per step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t1, t3 ~ Uniform[1–5 µm],  t2 ~ [0.2–0.5 µm]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 ~ Uniform[150–500 µm],  ag ~ [5–15 µm]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 ~ Log-Uniform[10 Pa – 20 kPa]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COMSOL warmup (steps 0–5000, λ annealing 1→0)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Anchors network in correct deflection regime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Prevents spurious minima (flat plate, upward deflection)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L_total = L_energy + λ · L_COMSOL_MSE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After step 5000: λ = 0, pure physics only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Optimiser: Adam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LR: 1×10⁻³ (warmup) → cosine decay to 1×10⁻⁴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Gradient clipping: max_norm = 1.0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50 000 steps total  |  ~55 min on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stochastic geometry sampling?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Network must generalise over 5D geometry space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Random sampling covers the space without grid explosion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5D uniform grid at 10 pts/dim = 10⁵ points  →  impractical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log-uniform pressure sampling?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Three-decade range: 10 Pa – 20 kPa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Linear sampling starves low-P regime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Log-uniform: equal samples per decade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Why gradient clipping?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Energy gradient can spike at initialisation (random w far from equilibrium)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Clipping prevents early instability without affecting steady-state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Loss history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L_energy converges from ~+1 (random init) to ~−0.7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Negative energy: pressure work dominates  →  physically correct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  Results: Deflection Profiles — 5 Geometries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Three-way comparison: PINN (solid)  |  COMSOL FEA (dashed)  |  Atik/Kirchhoff (dotted)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5 geometries spanning the design space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Small thin       a=227 µm,  t1/t3=1.6/1.1 µm,  ag=6.0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Medium balanced  a=290 µm,  t1/t3=1.7/2.1 µm,  ag=7.9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Large thick      a=460 µm,  t1/t3=4.3/3.9 µm,  ag=11.1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Small large gap  a=179 µm,  t1/t3=1.7/2.1 µm,  ag=13.1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Large thin       a=462 µm,  t1/t3=1.6/1.7 µm,  ag=5.4 µm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Key observations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Low pressure (500 Pa): all three methods agree  →  linear regime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High pressure (10–20 kPa): Atik overestimates deflection (dotted below solid/dashed)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Membrane stiffening captured by PINN/COMSOL  →  less deflection than Kirchhoff predicts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Touch-mode: PINN &amp; COMSOL both plateau at w = −ag;  Atik is clipped artificially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Atik predicts touch-down at lower pressure than reality  (ignores membrane stiffening)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PINN vs COMSOL agreement is the key validation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Solid and dashed nearly overlapping across all pressures and geometries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9.  Quantitative Validation — 2144 COMSOL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Validation set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2144 COMSOL deflection profiles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Geometries span the full 5D training box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8 pressures per geometry (500 Pa → 20 kPa)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RMSE: PINN vs COMSOL  (µm)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Median RMSE:   0.15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Mean RMSE:     0.22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p90 RMSE:      0.51 µm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Max RMSE:      1.10 µm  (worst: a ≈ 492 µm, boundary)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Linear regime accuracy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 = 100 Pa Kirchhoff error (w_PINN vs w_exact): 2.2%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Confirms energy minimum recovers correct PDE solution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Contact enforcement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0 / 200 penetration violations in random geometry sweep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Hard smooth-max constraint holds across full pressure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Error breakdown by pressure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Low P (≤ 1 kPa): RMSE &lt; 0.05 µm  (linear regime, easy)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Mid P (1–5 kPa): RMSE 0.1–0.3 µm  (membrane stiffening onset)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High P (≥ 10 kPa): RMSE 0.3–1.1 µm  (touch mode, hardest)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What drives the remaining error?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Large-plate geometries (a &gt; 400 µm) show highest RMSE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Near training-box boundary  →  less training coverage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Touch-mode transition radius prediction (contact area boundary)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Context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Air gap range: 5–15 µm  →  RMSE / ag = 1–7%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Comparable or better than other PINN plate surrogates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Inference: &lt; 1 ms  vs  COMSOL: minutes per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10.  Conclusions &amp;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What was built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PINN surrogate for multilayer MEMS diaphragm over 5D geometry space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Trained purely on physics energy (no FEA labels in main training)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Median RMSE 0.15 µm vs COMSOL,  0 contact violations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Key design decisions (and why)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Tanh activations  →  clean autograd second derivatives for bending energy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Two heads (w, u)  →  correct FvK membrane strain εᵣ = u' + ½(w')²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Hard BCs (1−ξ²)²  →  exact enforcement, no wasted gradient budget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Smooth-max contact  →  hard guarantee + nonzero gradient in touch mode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Per-sample energy normalisation  →  equal learning across 4-decade pressure range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Log-scale pressure input  →  equal representation of all pressure decades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W_ref = ag  →  O(1) network outputs across all air-gap geometries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What the figures show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PINN ≈ COMSOL at all pressures and geometries  →  surrogate is valid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Kirchhoff overestimates deflection at P &gt; 1 kPa  →  FvK is necessary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Touch-mode correctly captured; contact radius matches COMSOL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Limitations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Max RMSE 1.10 µm for large plates (a &gt; 400 µm)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Touch-mode transition slightly imprecise at very high P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01010"/>
                </a:solidFill>
              </a:rPr>
              <a:t>▸  Possible extensions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Wider network (256-dim) or 100k steps to close large-plate gap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Capacitance C(P) prediction directly from w(r) (Eroglu 2025)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Extend to elliptical or rectangular diaphragm geometries</a:t>
            </a:r>
          </a:p>
          <a:p>
            <a:pPr lvl="1">
              <a:spcBef>
                <a:spcPts val="100"/>
              </a:spcBef>
            </a:pPr>
            <a:r>
              <a:rPr sz="1200" b="0">
                <a:solidFill>
                  <a:srgbClr val="555555"/>
                </a:solidFill>
              </a:rPr>
              <a:t>     –  Uncertainty quantification via ensemble or dropout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